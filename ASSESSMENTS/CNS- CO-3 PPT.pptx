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9" r:id="rId2"/>
    <p:sldId id="290" r:id="rId3"/>
    <p:sldId id="303" r:id="rId4"/>
    <p:sldId id="304" r:id="rId5"/>
    <p:sldId id="324" r:id="rId6"/>
    <p:sldId id="316" r:id="rId7"/>
    <p:sldId id="320" r:id="rId8"/>
    <p:sldId id="318" r:id="rId9"/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1219" autoAdjust="0"/>
  </p:normalViewPr>
  <p:slideViewPr>
    <p:cSldViewPr snapToGrid="0" showGuides="1">
      <p:cViewPr varScale="1">
        <p:scale>
          <a:sx n="71" d="100"/>
          <a:sy n="71" d="100"/>
        </p:scale>
        <p:origin x="1214" y="67"/>
      </p:cViewPr>
      <p:guideLst>
        <p:guide orient="horz" pos="2138"/>
        <p:guide pos="3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joshithareddy@gmail.com" userId="0983c61dd8ff7f34" providerId="LiveId" clId="{E21F04B5-FE45-4A77-8B74-87C32A525EB8}"/>
    <pc:docChg chg="modSld">
      <pc:chgData name="jjoshithareddy@gmail.com" userId="0983c61dd8ff7f34" providerId="LiveId" clId="{E21F04B5-FE45-4A77-8B74-87C32A525EB8}" dt="2026-10-08T04:14:44.367" v="2" actId="20577"/>
      <pc:docMkLst>
        <pc:docMk/>
      </pc:docMkLst>
      <pc:sldChg chg="modSp mod">
        <pc:chgData name="jjoshithareddy@gmail.com" userId="0983c61dd8ff7f34" providerId="LiveId" clId="{E21F04B5-FE45-4A77-8B74-87C32A525EB8}" dt="2026-10-08T04:14:20.572" v="0" actId="20577"/>
        <pc:sldMkLst>
          <pc:docMk/>
          <pc:sldMk cId="0" sldId="290"/>
        </pc:sldMkLst>
        <pc:spChg chg="mod">
          <ac:chgData name="jjoshithareddy@gmail.com" userId="0983c61dd8ff7f34" providerId="LiveId" clId="{E21F04B5-FE45-4A77-8B74-87C32A525EB8}" dt="2026-10-08T04:14:20.572" v="0" actId="20577"/>
          <ac:spMkLst>
            <pc:docMk/>
            <pc:sldMk cId="0" sldId="290"/>
            <ac:spMk id="10" creationId="{F5931324-9262-5BA0-A0B7-CFB04386E237}"/>
          </ac:spMkLst>
        </pc:spChg>
      </pc:sldChg>
      <pc:sldChg chg="modSp mod">
        <pc:chgData name="jjoshithareddy@gmail.com" userId="0983c61dd8ff7f34" providerId="LiveId" clId="{E21F04B5-FE45-4A77-8B74-87C32A525EB8}" dt="2026-10-08T04:14:44.367" v="2" actId="20577"/>
        <pc:sldMkLst>
          <pc:docMk/>
          <pc:sldMk cId="0" sldId="320"/>
        </pc:sldMkLst>
        <pc:graphicFrameChg chg="modGraphic">
          <ac:chgData name="jjoshithareddy@gmail.com" userId="0983c61dd8ff7f34" providerId="LiveId" clId="{E21F04B5-FE45-4A77-8B74-87C32A525EB8}" dt="2026-10-08T04:14:44.367" v="2" actId="20577"/>
          <ac:graphicFrameMkLst>
            <pc:docMk/>
            <pc:sldMk cId="0" sldId="320"/>
            <ac:graphicFrameMk id="7" creationId="{01D90641-CD3D-0229-0694-1AB126A83A3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9534E-8A46-49D5-9701-F58C9077746D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71B5F-A145-489D-AE8A-81D7EB2FA5C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71B5F-A145-489D-AE8A-81D7EB2FA5C6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71B5F-A145-489D-AE8A-81D7EB2FA5C6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71B5F-A145-489D-AE8A-81D7EB2FA5C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059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71B5F-A145-489D-AE8A-81D7EB2FA5C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917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4036C-9E7C-4FFC-99FA-414B61E345DD}" type="datetimeFigureOut">
              <a:rPr lang="en-US" smtClean="0"/>
              <a:t>10/8/2026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70383C-2658-4EB3-82DD-DDA11465174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A5704-6496-4BDA-907E-18D234A0F4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43413" y="4689214"/>
            <a:ext cx="4343399" cy="1156727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71450" algn="just">
              <a:lnSpc>
                <a:spcPct val="100000"/>
              </a:lnSpc>
              <a:spcBef>
                <a:spcPts val="620"/>
              </a:spcBef>
            </a:pPr>
            <a:r>
              <a:rPr sz="2000" b="1" spc="-10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sz="2000" b="1" spc="-80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US" sz="2000" b="1" dirty="0">
              <a:latin typeface="Times New Roman" panose="02020603050405020304"/>
              <a:cs typeface="Times New Roman" panose="02020603050405020304"/>
            </a:endParaRPr>
          </a:p>
          <a:p>
            <a:pPr marL="171450" algn="just">
              <a:lnSpc>
                <a:spcPct val="100000"/>
              </a:lnSpc>
              <a:spcBef>
                <a:spcPts val="620"/>
              </a:spcBef>
            </a:pPr>
            <a:r>
              <a:rPr lang="en-US" sz="2000" spc="-15" dirty="0" err="1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A.Sai</a:t>
            </a:r>
            <a:r>
              <a:rPr lang="en-US" sz="2000" spc="-1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Joshitha [192424220]</a:t>
            </a:r>
          </a:p>
          <a:p>
            <a:pPr marL="171450">
              <a:lnSpc>
                <a:spcPct val="100000"/>
              </a:lnSpc>
              <a:spcBef>
                <a:spcPts val="620"/>
              </a:spcBef>
            </a:pP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455" y="157233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15113" y="157233"/>
            <a:ext cx="1520113" cy="134288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6837" y="442314"/>
            <a:ext cx="40170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2000" b="1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1555571" y="2155910"/>
            <a:ext cx="9298895" cy="124328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marR="812800" indent="0" algn="ctr">
              <a:lnSpc>
                <a:spcPct val="100000"/>
              </a:lnSpc>
              <a:spcBef>
                <a:spcPts val="1055"/>
              </a:spcBef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Caesar to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Vigenere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Evolution of Substitution Ciphers”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4269" y="828675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315" marR="5080" indent="-1111250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 OF</a:t>
            </a:r>
            <a:r>
              <a:rPr sz="20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lang="en-US" sz="20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TECHNICAL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363" y="4859774"/>
            <a:ext cx="6118698" cy="786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algn="just">
              <a:lnSpc>
                <a:spcPct val="100000"/>
              </a:lnSpc>
              <a:spcBef>
                <a:spcPts val="620"/>
              </a:spcBef>
            </a:pPr>
            <a:r>
              <a:rPr lang="en-US" sz="2000" b="1" spc="-10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lang="en-US" sz="2000" b="1" spc="-80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spc="-25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by:</a:t>
            </a:r>
            <a:endParaRPr lang="en-US" sz="2000" b="1" dirty="0">
              <a:latin typeface="Times New Roman" panose="02020603050405020304"/>
              <a:cs typeface="Times New Roman" panose="02020603050405020304"/>
            </a:endParaRPr>
          </a:p>
          <a:p>
            <a:pPr marL="171450" algn="just">
              <a:spcBef>
                <a:spcPts val="62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Jesu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Jayarin.P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07467" y="3471778"/>
            <a:ext cx="69557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CSA5108-Cryptography and Network Security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57735" y="487708"/>
            <a:ext cx="1219199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75" y="160337"/>
            <a:ext cx="1103582" cy="12090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2" y="26537"/>
            <a:ext cx="1520062" cy="1209097"/>
          </a:xfrm>
          <a:prstGeom prst="rect">
            <a:avLst/>
          </a:prstGeom>
        </p:spPr>
      </p:pic>
      <p:sp>
        <p:nvSpPr>
          <p:cNvPr id="3" name="AutoShape 2" descr="Generat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6" name="AutoShape 4" descr="Generat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07975" y="3464054"/>
            <a:ext cx="627662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42809" y="2939275"/>
            <a:ext cx="6276622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931324-9262-5BA0-A0B7-CFB04386E237}"/>
              </a:ext>
            </a:extLst>
          </p:cNvPr>
          <p:cNvSpPr txBox="1"/>
          <p:nvPr/>
        </p:nvSpPr>
        <p:spPr>
          <a:xfrm>
            <a:off x="155575" y="1480662"/>
            <a:ext cx="867233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Cryptography?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the technique of protecting information.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the intended receiver should be able to recover the original message.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ciphers replace plaintext characters with other characters.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process: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 → Encryption → Ciphertext → Decryption → Plaintext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71653-48A7-71FB-CC4E-6A94BEE146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491" y="1363585"/>
            <a:ext cx="3533422" cy="5309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7975" y="132674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05312" y="513485"/>
            <a:ext cx="338137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9662D3-4250-90A0-65B3-45D8758464CB}"/>
              </a:ext>
            </a:extLst>
          </p:cNvPr>
          <p:cNvSpPr txBox="1"/>
          <p:nvPr/>
        </p:nvSpPr>
        <p:spPr>
          <a:xfrm>
            <a:off x="200766" y="1579344"/>
            <a:ext cx="856671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cipher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letter is shifted by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positions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shift is used for every letter.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= 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pPr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B6274F8-2CA9-06AF-2F48-4054C9AD7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755910"/>
              </p:ext>
            </p:extLst>
          </p:nvPr>
        </p:nvGraphicFramePr>
        <p:xfrm>
          <a:off x="838200" y="4944706"/>
          <a:ext cx="1051560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1080033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332093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954733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6196639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8792151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871493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071962"/>
                  </a:ext>
                </a:extLst>
              </a:tr>
              <a:tr h="199891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 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989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071728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EDBA6EA-8B7E-8F5C-C859-DC515D5DFB81}"/>
              </a:ext>
            </a:extLst>
          </p:cNvPr>
          <p:cNvSpPr txBox="1"/>
          <p:nvPr/>
        </p:nvSpPr>
        <p:spPr>
          <a:xfrm>
            <a:off x="200766" y="6230800"/>
            <a:ext cx="5924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KHOOR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8" y="152254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43500" y="651805"/>
            <a:ext cx="6304996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of Caesar Cipher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FD541-5946-BB8A-2780-39E772B653FC}"/>
              </a:ext>
            </a:extLst>
          </p:cNvPr>
          <p:cNvSpPr txBox="1"/>
          <p:nvPr/>
        </p:nvSpPr>
        <p:spPr>
          <a:xfrm>
            <a:off x="473336" y="1805878"/>
            <a:ext cx="10305826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25 possible keys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break using brute-force attack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shift is used for every letter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patterns remain unchanged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provides low security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Brute-Force Attack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ciphertext is: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F12C8-FF42-D578-309D-468A6AA67F16}"/>
              </a:ext>
            </a:extLst>
          </p:cNvPr>
          <p:cNvSpPr txBox="1"/>
          <p:nvPr/>
        </p:nvSpPr>
        <p:spPr>
          <a:xfrm>
            <a:off x="6095998" y="2250019"/>
            <a:ext cx="5711020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attacker can try: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1 → JGNNQ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2 → IFMMP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3 → HELLO ✓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correct message can be found easily.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901" y="205938"/>
            <a:ext cx="959864" cy="1191124"/>
          </a:xfrm>
          <a:prstGeom prst="rect">
            <a:avLst/>
          </a:prstGeom>
        </p:spPr>
      </p:pic>
      <p:pic>
        <p:nvPicPr>
          <p:cNvPr id="6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23411" y="98572"/>
            <a:ext cx="1110854" cy="129849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2764790" y="587412"/>
            <a:ext cx="666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Substitution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C41546D-C447-380D-5CEB-F33786AF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21" y="1611089"/>
            <a:ext cx="746367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plaintext letter is replaced by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 fixed ciphertext letter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same substitution is used throughout the message.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more complex than the Caesar Cipher.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still be broken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 analysis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the substitution 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9A3D96-D83A-66FF-95F1-6C01BB8F3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590060"/>
              </p:ext>
            </p:extLst>
          </p:nvPr>
        </p:nvGraphicFramePr>
        <p:xfrm>
          <a:off x="522977" y="5551941"/>
          <a:ext cx="1051560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21919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2235236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994034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772481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2251170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89996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657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6679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079223-C120-52E1-5796-D42559B756CE}"/>
              </a:ext>
            </a:extLst>
          </p:cNvPr>
          <p:cNvSpPr txBox="1"/>
          <p:nvPr/>
        </p:nvSpPr>
        <p:spPr>
          <a:xfrm>
            <a:off x="8261418" y="1516833"/>
            <a:ext cx="44236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→ Q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→ W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→ 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→ 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→ 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ITSSG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letter always gets the same replacement.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→ 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time.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8" y="152255"/>
            <a:ext cx="1103582" cy="12701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2307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20897" y="591009"/>
            <a:ext cx="85502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Vigenere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Cipher</a:t>
            </a: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EA1E76-78E0-CA64-C43A-238BB3DC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69" y="1455918"/>
            <a:ext cx="7489551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 is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polyalphabetic substitution cipher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encryption.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letters can 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 shifts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more secure than Caesar and Monoalphabetic ciphers.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E63F4F-856C-C658-5E07-A88978039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69" y="3673333"/>
            <a:ext cx="2515432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Plaintext: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ATTACK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LEMONL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Ciphertext: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LXFOPV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7A65BA-1BB4-5062-AC4F-5235F7DD2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999233"/>
              </p:ext>
            </p:extLst>
          </p:nvPr>
        </p:nvGraphicFramePr>
        <p:xfrm>
          <a:off x="544688" y="5059954"/>
          <a:ext cx="10515603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92732802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43140088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193111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3704446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61547970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19234608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75359154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Plaintext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8202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145135"/>
                  </a:ext>
                </a:extLst>
              </a:tr>
              <a:tr h="191637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Ciphertext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05504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69E1410-8034-F0A3-3EEC-1340A114AB2A}"/>
              </a:ext>
            </a:extLst>
          </p:cNvPr>
          <p:cNvSpPr txBox="1"/>
          <p:nvPr/>
        </p:nvSpPr>
        <p:spPr>
          <a:xfrm>
            <a:off x="428669" y="6211669"/>
            <a:ext cx="42244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LEMONL → LXFOPV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758" y="152255"/>
            <a:ext cx="1103582" cy="1191124"/>
          </a:xfrm>
          <a:prstGeom prst="rect">
            <a:avLst/>
          </a:prstGeom>
        </p:spPr>
      </p:pic>
      <p:pic>
        <p:nvPicPr>
          <p:cNvPr id="8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88218" y="132688"/>
            <a:ext cx="1520113" cy="1342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AD77ED-7594-3F3C-F95F-7A6515FBF027}"/>
              </a:ext>
            </a:extLst>
          </p:cNvPr>
          <p:cNvSpPr txBox="1"/>
          <p:nvPr/>
        </p:nvSpPr>
        <p:spPr>
          <a:xfrm>
            <a:off x="2111022" y="635493"/>
            <a:ext cx="85795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Substitution Ciphers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D90641-CD3D-0229-0694-1AB126A83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989388"/>
              </p:ext>
            </p:extLst>
          </p:nvPr>
        </p:nvGraphicFramePr>
        <p:xfrm>
          <a:off x="962378" y="2443427"/>
          <a:ext cx="10515600" cy="2651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69978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668118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794874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510200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Caesar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Monoalphabetic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Vigenere</a:t>
                      </a:r>
                      <a:endParaRPr lang="en-I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4196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Keyword-based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8325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175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shift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Letter mapping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896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Brute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Repeated-key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3624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58" y="152254"/>
            <a:ext cx="1103582" cy="11312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9823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77370" y="575600"/>
            <a:ext cx="2637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F53BE4-604F-DE02-BEC0-0CA3925CD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434" y="2039067"/>
            <a:ext cx="9956800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but weak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Monoalphabetic Cipher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substitution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 is vulnerable to frequency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 uses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substitution alphabets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Vigenère provides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better security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than Caesar and Monoalphabetic ciphers.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evolution shows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improvement of cryptographic techniques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285" y="1074420"/>
            <a:ext cx="7124065" cy="47097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490</Words>
  <Application>Microsoft Office PowerPoint</Application>
  <PresentationFormat>Widescreen</PresentationFormat>
  <Paragraphs>144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Times New Roman</vt:lpstr>
      <vt:lpstr>Office Theme</vt:lpstr>
      <vt:lpstr>     SIMATS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shalini kuppam</dc:creator>
  <cp:lastModifiedBy>jjoshithareddy@gmail.com</cp:lastModifiedBy>
  <cp:revision>42</cp:revision>
  <dcterms:created xsi:type="dcterms:W3CDTF">2025-11-17T12:41:00Z</dcterms:created>
  <dcterms:modified xsi:type="dcterms:W3CDTF">2026-10-08T04:15:09Z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5FF73B42DE0E498BB81B1EE25AD12C69_13</vt:lpwstr>
  </property>
</Properties>
</file>